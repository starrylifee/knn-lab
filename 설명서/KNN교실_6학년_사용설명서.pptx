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맑은 고딕"/>
              </a:rPr>
              <a:t>KNN 알고리즘 교실</a:t>
            </a:r>
          </a:p>
          <a:p>
            <a:pPr>
              <a:spcBef>
                <a:spcPts val="1000"/>
              </a:spcBef>
            </a:pPr>
            <a:r>
              <a:rPr sz="3400" b="1">
                <a:solidFill>
                  <a:srgbClr val="C7D2FE"/>
                </a:solidFill>
                <a:latin typeface="맑은 고딕"/>
              </a:rPr>
              <a:t>6학년 · 친구 추천 알고리즘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0060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선생님용 사용 설명서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E0E7FF"/>
                </a:solidFill>
                <a:latin typeface="맑은 고딕"/>
              </a:rPr>
              <a:t>나와 비슷한 친구를 찾아주는 AI 추천 · 4차시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E0E7FF"/>
                </a:solidFill>
                <a:latin typeface="맑은 고딕"/>
              </a:rPr>
              <a:t>접속: knn-lab.vercel.app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92608"/>
            <a:ext cx="192024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3730A3"/>
                </a:solidFill>
                <a:latin typeface="맑은 고딕"/>
              </a:rPr>
              <a:t>시작하기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0"/>
            <a:ext cx="9144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학급 만들고 학생 입장시키기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2183841"/>
            <a:ext cx="6784848" cy="34047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6_teach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38705"/>
            <a:ext cx="6675120" cy="329498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78040" y="1325880"/>
            <a:ext cx="45720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20" y="1600200"/>
            <a:ext cx="42062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3730A3"/>
                </a:solidFill>
                <a:latin typeface="맑은 고딕"/>
              </a:rPr>
              <a:t>교사 (수업 준비)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1. 첫 화면(knn-lab.vercel.app)에서 '교사 로그인' 카드 누르기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2. 구글 계정으로 로그인 — 어느 컴퓨터에서든 내 학급이 그대로 보여요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3. '새 학급 만들기'에서 학년(6학년)·학급 이름·교사 PIN(4자리) 입력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4. 만들어진 학급 코드 확인 → 코드를 눌러 전자칠판용으로 크게 보기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730A3"/>
                </a:solidFill>
                <a:latin typeface="맑은 고딕"/>
              </a:rPr>
              <a:t>학생 (입장)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1. 첫 화면에서 '6학년 친구 추천' 선택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2. 학급 코드 + 내 출석번호 입력 → 들어가기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3. 이름 대신 출석번호만 사용해요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5440680"/>
            <a:ext cx="4389120" cy="8686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 b="0">
                <a:solidFill>
                  <a:srgbClr val="854D0E"/>
                </a:solidFill>
                <a:latin typeface="맑은 고딕"/>
              </a:rPr>
              <a:t>3차시 추천이 잘 되려면 2차시에서 최소 10명 이상 저장해야 해요(대시보드 격자로 확인). 대시보드는 구글 로그인으로 보호돼요.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92608"/>
            <a:ext cx="192024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3730A3"/>
                </a:solidFill>
                <a:latin typeface="맑은 고딕"/>
              </a:rPr>
              <a:t>1차시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0"/>
            <a:ext cx="9144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알고리즘 이해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2140891"/>
            <a:ext cx="6967728" cy="34906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6_t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5755"/>
            <a:ext cx="6858000" cy="338088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325880"/>
            <a:ext cx="420624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554480"/>
            <a:ext cx="37947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3730A3"/>
                </a:solidFill>
                <a:latin typeface="맑은 고딕"/>
              </a:rPr>
              <a:t>🎯 이 차시 목표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생활 속 추천 알고리즘을 찾고, ‘나와 비슷한 사람’을 찾는 KNN 원리를 이해해요.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730A3"/>
                </a:solidFill>
                <a:latin typeface="맑은 고딕"/>
              </a:rPr>
              <a:t>📋 진행 순서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① 유튜브·넷플릭스·쿠팡·음악앱 카드로 추천의 비밀 확인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② KNN 데모 그래프에 새 사람(★) 놓기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③ K를 1·3·9로 바꿔 결과 비교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730A3"/>
                </a:solidFill>
                <a:latin typeface="맑은 고딕"/>
              </a:rPr>
              <a:t>💡 진행 팁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‘왜 사람마다 유튜브 첫 화면이 다를까?’로 동기를 유발하세요. K=1과 K=9의 결과 차이로 ‘한 명만 믿기 vs 여러 명’을 토론하면 좋아요.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92608"/>
            <a:ext cx="192024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3730A3"/>
                </a:solidFill>
                <a:latin typeface="맑은 고딕"/>
              </a:rPr>
              <a:t>2차시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0"/>
            <a:ext cx="9144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데이터 수집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2140891"/>
            <a:ext cx="6967728" cy="34906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6_t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5755"/>
            <a:ext cx="6858000" cy="338088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325880"/>
            <a:ext cx="420624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554480"/>
            <a:ext cx="37947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3730A3"/>
                </a:solidFill>
                <a:latin typeface="맑은 고딕"/>
              </a:rPr>
              <a:t>🎯 이 차시 목표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추천에 필요한 데이터를 정하고 학급 데이터를 모아요.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730A3"/>
                </a:solidFill>
                <a:latin typeface="맑은 고딕"/>
              </a:rPr>
              <a:t>📋 진행 순서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① 취향 7문항 답하기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② 최애 3가지(과자·영상·책) 적기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③ 모둠 주제 고르기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④ ‘데이터 창고에 저장’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730A3"/>
                </a:solidFill>
                <a:latin typeface="맑은 고딕"/>
              </a:rPr>
              <a:t>💡 진행 팁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데이터가 많을수록 추천이 정확해짐을 체감시키되, ‘회사가 내 데이터를 모을 때 물어봐야 할까?’로 4차시 개인정보 논의의 복선을 깔아 두세요. 최애 칸에 친구 이름은 쓰지 않게 안내.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92608"/>
            <a:ext cx="192024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3730A3"/>
                </a:solidFill>
                <a:latin typeface="맑은 고딕"/>
              </a:rPr>
              <a:t>3차시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0"/>
            <a:ext cx="9144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추천 설계 &amp; AI 비교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2138705"/>
            <a:ext cx="6967728" cy="349499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6_t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3569"/>
            <a:ext cx="6858000" cy="338526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325880"/>
            <a:ext cx="420624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554480"/>
            <a:ext cx="37947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3730A3"/>
                </a:solidFill>
                <a:latin typeface="맑은 고딕"/>
              </a:rPr>
              <a:t>🎯 이 차시 목표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KNN으로 내 추천 알고리즘을 만들고, AI(Solar)의 추천과 비교해요.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730A3"/>
                </a:solidFill>
                <a:latin typeface="맑은 고딕"/>
              </a:rPr>
              <a:t>📋 진행 순서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① 이웃 수 K와 중요 취향(가중치) 정하기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② ‘내 알고리즘 실행’으로 비슷한 친구·추천 확인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③ ‘AI에게도 추천 부탁하기’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④ 같은 점·다른 점 기록하기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730A3"/>
                </a:solidFill>
                <a:latin typeface="맑은 고딕"/>
              </a:rPr>
              <a:t>💡 진행 팁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AI에는 개인정보 보호를 위해 번호·점수만 전송돼요(최애 글은 안 보냄). ‘내 규칙(K·가중치)을 바꾸면 결과가 어떻게 달라지나’를 관찰하게 하세요.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92608"/>
            <a:ext cx="192024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3730A3"/>
                </a:solidFill>
                <a:latin typeface="맑은 고딕"/>
              </a:rPr>
              <a:t>4차시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0"/>
            <a:ext cx="9144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개선과 토론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91626" y="1225296"/>
            <a:ext cx="5389147" cy="2715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6_t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490" y="1280160"/>
            <a:ext cx="5279419" cy="2606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91626" y="3922775"/>
            <a:ext cx="5389147" cy="2715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6_t4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490" y="3977639"/>
            <a:ext cx="5279419" cy="26060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43800" y="1280160"/>
            <a:ext cx="420624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508760"/>
            <a:ext cx="37947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3730A3"/>
                </a:solidFill>
                <a:latin typeface="맑은 고딕"/>
              </a:rPr>
              <a:t>🎯 이 차시 목표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AI 추천이 틀리는 이유와 편향·필터버블을 이해하고, 새 알고리즘을 기획해요.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730A3"/>
                </a:solidFill>
                <a:latin typeface="맑은 고딕"/>
              </a:rPr>
              <a:t>📋 진행 순서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① ‘틀리는 이유’ 카드 4개 열어보기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② 필터버블 체험 (주제 하나로 추천 계속 받기)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③ AI와 토론하기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④ 편향 방지 장치까지 넣어 새 추천 알고리즘 기획·제출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730A3"/>
                </a:solidFill>
                <a:latin typeface="맑은 고딕"/>
              </a:rPr>
              <a:t>💡 진행 팁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활동이 4개라 40분을 넘길 수 있어요. AI 토론은 ‘3번 주고받고 마무리’ 또는 일찍 끝낸 학생용으로 운영하세요. 기획의 ‘편향 방지 장치’는 필수 입력이에요.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92608"/>
            <a:ext cx="192024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3730A3"/>
                </a:solidFill>
                <a:latin typeface="맑은 고딕"/>
              </a:rPr>
              <a:t>교사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0"/>
            <a:ext cx="9144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수업 중 이렇게 활용하세요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2183841"/>
            <a:ext cx="6784848" cy="34047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6_teach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38705"/>
            <a:ext cx="6675120" cy="329498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78040" y="1325880"/>
            <a:ext cx="45720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20" y="1600200"/>
            <a:ext cx="42062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3730A3"/>
                </a:solidFill>
                <a:latin typeface="맑은 고딕"/>
              </a:rPr>
              <a:t>현황·설정 탭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· 1~40번 격자로 2차시 제출 인원 확인 (3차시 전 필수)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· AI 추천 비교·AI 토론 기능을 켜고 끌 수 있어요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730A3"/>
                </a:solidFill>
                <a:latin typeface="맑은 고딕"/>
              </a:rPr>
              <a:t>각 차시 탭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· 2차시 취향 데이터 (표로 한눈에)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· 3차시 AI 비교 기록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· 4차시 알고리즘 기획 (편향 방지 장치 확인)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5440680"/>
            <a:ext cx="4389120" cy="8686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 b="0">
                <a:solidFill>
                  <a:srgbClr val="854D0E"/>
                </a:solidFill>
                <a:latin typeface="맑은 고딕"/>
              </a:rPr>
              <a:t>AI 기능을 끄면 학생이 다음 AI 버튼을 누를 때부터 적용돼요(이미 눌러 진행 중인 요청엔 반영 안 됨).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92608"/>
            <a:ext cx="192024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3730A3"/>
                </a:solidFill>
                <a:latin typeface="맑은 고딕"/>
              </a:rPr>
              <a:t>체크리스트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0"/>
            <a:ext cx="9144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수업 전 확인 &amp; 안전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108813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6984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3730A3"/>
                </a:solidFill>
                <a:latin typeface="맑은 고딕"/>
              </a:rPr>
              <a:t>수업 전 체크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· 2차시 데이터가 10명 이상 모였는지 (3차시 추천 품질)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· 전자칠판에 학급 코드를 크게 띄웠는지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· 크롬북을 학생별(또는 반) 구글 프로필로 로그인해 두면 재저장 문제 예방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· 참관·연수 시연은 첫 화면 '참관·연수용 둘러보기 데모'로 (가상 데이터, 저장 안 됨)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730A3"/>
                </a:solidFill>
                <a:latin typeface="맑은 고딕"/>
              </a:rPr>
              <a:t>학생 안전·개인정보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· 취향 데이터는 이름 없이 출석번호로만 저장돼요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· AI에는 번호·점수만 전송하고 자유 입력 글(최애)은 보내지 않아요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· 학생에게 최애·기획 칸에 ‘이름·연락처는 적지 않기’ 안내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· AI 토론은 추천·편향·필터버블 주제에 집중하도록 안내돼 있어요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